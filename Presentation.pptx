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2" d="100"/>
          <a:sy n="122" d="100"/>
        </p:scale>
        <p:origin x="78" y="-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269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C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PROJECT  ·  MARCH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75488" y="804672"/>
            <a:ext cx="6035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seismic data help us make smarter real estate investment decisions?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75488" y="2834640"/>
            <a:ext cx="6035040" cy="16459"/>
          </a:xfrm>
          <a:prstGeom prst="rect">
            <a:avLst/>
          </a:prstGeom>
          <a:solidFill>
            <a:srgbClr val="E2E6EA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20781" y="2960827"/>
            <a:ext cx="6035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USGS Earthquake Hazards Program  ·  Live API feed  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2E6EA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75488" y="4919472"/>
            <a:ext cx="82296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97A6"/>
                </a:solidFill>
              </a:rPr>
              <a:t>Boumediene Rayane Mazari – Felipe De Leon Castro – Marco De Palma – Sacha Huberty – Shreya Jha – Smaragda Apostolou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C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static risk maps are no longer enough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8321040" cy="16459"/>
          </a:xfrm>
          <a:prstGeom prst="rect">
            <a:avLst/>
          </a:prstGeom>
          <a:solidFill>
            <a:srgbClr val="E2E6EA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40233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buying property in earthquake-prone areas, investors today typically rely on risk zone maps that were drawn years ago. These maps treat entire regions as equally risky — and they can't tell you whether seismic activity has been increasing recently.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2011680"/>
            <a:ext cx="40233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11480" y="2011680"/>
            <a:ext cx="45720" cy="896112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85216" y="210312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too much for insurance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85216" y="237744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in zones labelled 'high risk' pay elevated premiums — even when recent earthquake data shows activity has been minimal.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3035808"/>
            <a:ext cx="40233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11480" y="3035808"/>
            <a:ext cx="45720" cy="896112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85216" y="312724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Underestimating new hotspots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85216" y="340156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with rising seismic activity may not yet appear on static maps, leaving investors unaware of growing exposure.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3977640" cy="3749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4754880" y="1078992"/>
            <a:ext cx="3977640" cy="45720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956048" y="1207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56048" y="1536192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B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 live, data-driven platform using real earthquake data — updated continuously — so investors can see actual risk, not estimated risk.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56048" y="2414016"/>
            <a:ext cx="118872" cy="118872"/>
          </a:xfrm>
          <a:prstGeom prst="ellipse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157216" y="2322576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B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earthquake data from the US government, refreshed every 5 minutes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56048" y="2962656"/>
            <a:ext cx="118872" cy="118872"/>
          </a:xfrm>
          <a:prstGeom prst="ellipse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157216" y="2871216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B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scores that weigh both how often earthquakes happen and how powerful they are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956048" y="3511296"/>
            <a:ext cx="118872" cy="118872"/>
          </a:xfrm>
          <a:prstGeom prst="ellipse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5157216" y="3419856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B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 when seismic activity spikes in a market you are evaluating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56048" y="4059936"/>
            <a:ext cx="118872" cy="118872"/>
          </a:xfrm>
          <a:prstGeom prst="ellipse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5157216" y="3968496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B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grouping of markets into risk tiers — backed by machine learning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USGS Earthquake Hazards Program — usgs.gov/programs/earthquake-hazards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C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FRAMEWORK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questions. One complete picture.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8321040" cy="16459"/>
          </a:xfrm>
          <a:prstGeom prst="rect">
            <a:avLst/>
          </a:prstGeom>
          <a:solidFill>
            <a:srgbClr val="E2E6EA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in our analysis answers a different question an investor needs to ask before committing capital to a seismically active market.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11480" y="1572768"/>
            <a:ext cx="1920240" cy="3273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1920240" cy="54864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76072" y="1737360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87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76072" y="2286000"/>
            <a:ext cx="1591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risk?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76072" y="2834640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analysis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76072" y="3127248"/>
            <a:ext cx="1591056" cy="16459"/>
          </a:xfrm>
          <a:prstGeom prst="rect">
            <a:avLst/>
          </a:prstGeom>
          <a:solidFill>
            <a:srgbClr val="E2E6EA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76072" y="3255264"/>
            <a:ext cx="15910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rank every market by a risk score that combines earthquake frequency and destructive power.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14600" y="1572768"/>
            <a:ext cx="1920240" cy="3273552"/>
          </a:xfrm>
          <a:prstGeom prst="rect">
            <a:avLst/>
          </a:prstGeom>
          <a:solidFill>
            <a:srgbClr val="0D1B2A"/>
          </a:solidFill>
          <a:ln w="6350">
            <a:solidFill>
              <a:srgbClr val="0D1B2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2514600" y="1572768"/>
            <a:ext cx="1920240" cy="54864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2679192" y="1737360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87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679192" y="2286000"/>
            <a:ext cx="1591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B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getting worse?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679192" y="2834640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679192" y="3127248"/>
            <a:ext cx="1591056" cy="16459"/>
          </a:xfrm>
          <a:prstGeom prst="rect">
            <a:avLst/>
          </a:prstGeom>
          <a:solidFill>
            <a:srgbClr val="2A3F55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2679192" y="3255264"/>
            <a:ext cx="15910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monitor live data in 5-minute windows so any sudden spike in activity triggers an immediate alert.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1572768"/>
            <a:ext cx="1920240" cy="3273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617720" y="1572768"/>
            <a:ext cx="1920240" cy="54864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782312" y="1737360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87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782312" y="2286000"/>
            <a:ext cx="1591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my investments linked?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782312" y="2834640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correlation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82312" y="3127248"/>
            <a:ext cx="1591056" cy="16459"/>
          </a:xfrm>
          <a:prstGeom prst="rect">
            <a:avLst/>
          </a:prstGeom>
          <a:solidFill>
            <a:srgbClr val="E2E6EA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782312" y="3255264"/>
            <a:ext cx="15910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map which markets sit on connected fault systems — so you know if a single event could hit multiple assets.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720840" y="1572768"/>
            <a:ext cx="1920240" cy="3273552"/>
          </a:xfrm>
          <a:prstGeom prst="rect">
            <a:avLst/>
          </a:prstGeom>
          <a:solidFill>
            <a:srgbClr val="0D1B2A"/>
          </a:solidFill>
          <a:ln w="6350">
            <a:solidFill>
              <a:srgbClr val="0D1B2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6720840" y="1572768"/>
            <a:ext cx="1920240" cy="54864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6885432" y="1737360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87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6885432" y="2286000"/>
            <a:ext cx="1591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B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tier am I in?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885432" y="2834640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classification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885432" y="3127248"/>
            <a:ext cx="1591056" cy="16459"/>
          </a:xfrm>
          <a:prstGeom prst="rect">
            <a:avLst/>
          </a:prstGeom>
          <a:solidFill>
            <a:srgbClr val="2A3F55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6885432" y="3255264"/>
            <a:ext cx="15910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groups all 59 markets into three distinct risk tiers, each with a different insurance strategy.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C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live earthquake data to actionable insight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8321040" cy="16459"/>
          </a:xfrm>
          <a:prstGeom prst="rect">
            <a:avLst/>
          </a:prstGeom>
          <a:solidFill>
            <a:srgbClr val="E2E6EA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5 minutes, the US Geological Survey publishes new earthquake data. Our pipeline picks that up automatically and processes it in real time.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12064" y="1645920"/>
            <a:ext cx="1389888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12064" y="1645920"/>
            <a:ext cx="1389888" cy="54864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03504" y="1773936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USGS API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03504" y="2139696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5 min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47672" y="2125980"/>
            <a:ext cx="201168" cy="0"/>
          </a:xfrm>
          <a:prstGeom prst="line">
            <a:avLst/>
          </a:prstGeom>
          <a:noFill/>
          <a:ln w="12700">
            <a:solidFill>
              <a:srgbClr val="C8793A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194560" y="1645920"/>
            <a:ext cx="1389888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194560" y="1645920"/>
            <a:ext cx="1389888" cy="54864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2286000" y="1773936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NiFi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286000" y="2139696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30168" y="2125980"/>
            <a:ext cx="201168" cy="0"/>
          </a:xfrm>
          <a:prstGeom prst="line">
            <a:avLst/>
          </a:prstGeom>
          <a:noFill/>
          <a:ln w="12700">
            <a:solidFill>
              <a:srgbClr val="C8793A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3877056" y="1645920"/>
            <a:ext cx="1389888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3877056" y="1645920"/>
            <a:ext cx="1389888" cy="54864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968496" y="1773936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r>
              <a:rPr lang="en-US" sz="11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Store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968496" y="2139696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+ CSV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12664" y="2125980"/>
            <a:ext cx="201168" cy="0"/>
          </a:xfrm>
          <a:prstGeom prst="line">
            <a:avLst/>
          </a:prstGeom>
          <a:noFill/>
          <a:ln w="12700">
            <a:solidFill>
              <a:srgbClr val="C8793A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5559552" y="1645920"/>
            <a:ext cx="1389888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5559552" y="1645920"/>
            <a:ext cx="1389888" cy="54864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5650992" y="1773936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50992" y="2139696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95160" y="2125980"/>
            <a:ext cx="201168" cy="0"/>
          </a:xfrm>
          <a:prstGeom prst="line">
            <a:avLst/>
          </a:prstGeom>
          <a:noFill/>
          <a:ln w="12700">
            <a:solidFill>
              <a:srgbClr val="C8793A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7242048" y="1645920"/>
            <a:ext cx="1389888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7242048" y="1645920"/>
            <a:ext cx="1389888" cy="54864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7333488" y="1773936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Outputs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333488" y="2139696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· Alerts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· Tiers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71500" y="2944368"/>
            <a:ext cx="1828800" cy="13898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571500" y="309067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87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571500" y="376732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B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B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628900" y="2944368"/>
            <a:ext cx="1828800" cy="13898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2628900" y="309067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87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2628900" y="376732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B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formats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B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+ CSV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86300" y="2944368"/>
            <a:ext cx="1828800" cy="13898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4686300" y="309067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87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min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4686300" y="376732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B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B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743700" y="2944368"/>
            <a:ext cx="1828800" cy="13898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6743700" y="309067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7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 3.5.4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6743700" y="376732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B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B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11480" y="4498848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NiFi collects both JSON and CSV files from the USGS API and stores them in a cloud-compatible data store. Apache Spark then reads both formats simultaneously — making the system resilient to changes in data format.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C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·  WHERE IS THE RISK?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Alaska and California stand apart from every other market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8321040" cy="16459"/>
          </a:xfrm>
          <a:prstGeom prst="rect">
            <a:avLst/>
          </a:prstGeom>
          <a:solidFill>
            <a:srgbClr val="E2E6EA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0" descr="/mnt/user-data/uploads/1773758035723_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115568"/>
            <a:ext cx="5577840" cy="3730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26480" y="1115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126480" y="144475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bar shows a market's overall risk score — a single number that combines how frequently earthquakes happen there and how powerful they typically are.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126480" y="2487168"/>
            <a:ext cx="2743200" cy="9875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6126480" y="2487168"/>
            <a:ext cx="2743200" cy="45720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6199632" y="25786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C87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0.83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6199632" y="3072384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Alaska's risk score — the highest in the dataset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3584448"/>
            <a:ext cx="2743200" cy="9875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6126480" y="3584448"/>
            <a:ext cx="2743200" cy="45720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6199632" y="36758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C87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4×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6199632" y="4169664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between the top 2 markets and everyone else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= 40% earthquake frequency + 60% earthquake power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C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·  A COUNTERINTUITIVE FINDING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California has more earthquakes — but Alaska is more dangerous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8321040" cy="16459"/>
          </a:xfrm>
          <a:prstGeom prst="rect">
            <a:avLst/>
          </a:prstGeom>
          <a:solidFill>
            <a:srgbClr val="E2E6EA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0" descr="/mnt/user-data/uploads/1773756492153_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115568"/>
            <a:ext cx="5394960" cy="3730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0" y="1115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943600" y="1444752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records far more earthquakes than Alaska. But Alaska's earthquakes are significantly more powerful — and powerful quakes cause far greater damage to buildings and infrastructure.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943600" y="2487168"/>
            <a:ext cx="2926080" cy="16459"/>
          </a:xfrm>
          <a:prstGeom prst="rect">
            <a:avLst/>
          </a:prstGeom>
          <a:solidFill>
            <a:srgbClr val="E2E6EA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5943600" y="2633472"/>
            <a:ext cx="45720" cy="914400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6108192" y="26700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Alaska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08192" y="294436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of its risk score comes from raw destructive power. Fewer events, but each one hits harder.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0" y="3712464"/>
            <a:ext cx="45720" cy="914400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6108192" y="37490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108192" y="402336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 of its score comes from sheer frequency. The constant drumbeat of smaller events adds up.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= frequency contribution (40% weight)   ·   Red = power contribution (60% weight)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C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·  IS IT GETTING WORSE?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live early-warning system for active due diligence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8321040" cy="16459"/>
          </a:xfrm>
          <a:prstGeom prst="rect">
            <a:avLst/>
          </a:prstGeom>
          <a:solidFill>
            <a:srgbClr val="E2E6EA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historical risk score tells you where risk has been. But during the weeks or months it takes to close on a property, seismic activity can change. Our streaming layer watches the data in real time and flags any sudden increases.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11480" y="224028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11480" y="2240280"/>
            <a:ext cx="45720" cy="749808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94360" y="2295144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7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96112" y="2295144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96112" y="2587752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earthquake data is processed the moment it arrives — no waiting for end-of-day reports.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3099816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11480" y="3099816"/>
            <a:ext cx="45720" cy="749808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94360" y="31546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7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96112" y="3154680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5-minute snapshots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96112" y="3447288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is grouped into 5-minute windows, so spikes are visible almost immediately.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959352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411480" y="3959352"/>
            <a:ext cx="45720" cy="749808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94360" y="4014216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7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96112" y="4014216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deduplication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96112" y="4306824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filters out duplicate records so each event is counted exactly once.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1115568"/>
            <a:ext cx="3977640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974336" y="1115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B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97880" y="1115568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B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window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49440" y="1115568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B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26680" y="11155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B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46320" y="1444752"/>
            <a:ext cx="3977640" cy="301752"/>
          </a:xfrm>
          <a:prstGeom prst="rect">
            <a:avLst/>
          </a:prstGeom>
          <a:solidFill>
            <a:srgbClr val="FDF3E8"/>
          </a:solidFill>
          <a:ln w="508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846320" y="1444752"/>
            <a:ext cx="45720" cy="301752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974336" y="1444752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97880" y="1444752"/>
            <a:ext cx="987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01:00–01:05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49440" y="1444752"/>
            <a:ext cx="7132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26680" y="1444752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10.89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1746504"/>
            <a:ext cx="3977640" cy="301752"/>
          </a:xfrm>
          <a:prstGeom prst="rect">
            <a:avLst/>
          </a:prstGeom>
          <a:solidFill>
            <a:srgbClr val="FDF3E8"/>
          </a:solidFill>
          <a:ln w="508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4846320" y="1746504"/>
            <a:ext cx="45720" cy="301752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4974336" y="1746504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B.C., Mexico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897880" y="1746504"/>
            <a:ext cx="987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21:05–21:10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49440" y="1746504"/>
            <a:ext cx="7132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3.39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726680" y="1746504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11.49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2048256"/>
            <a:ext cx="3977640" cy="301752"/>
          </a:xfrm>
          <a:prstGeom prst="rect">
            <a:avLst/>
          </a:prstGeom>
          <a:solidFill>
            <a:srgbClr val="FDF3E8"/>
          </a:solidFill>
          <a:ln w="508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4846320" y="2048256"/>
            <a:ext cx="45720" cy="301752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4974336" y="2048256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897880" y="2048256"/>
            <a:ext cx="987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17:25–17:30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949440" y="2048256"/>
            <a:ext cx="7132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726680" y="2048256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8.64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46320" y="2350008"/>
            <a:ext cx="3977640" cy="301752"/>
          </a:xfrm>
          <a:prstGeom prst="rect">
            <a:avLst/>
          </a:prstGeom>
          <a:solidFill>
            <a:srgbClr val="F7F8FA"/>
          </a:solidFill>
          <a:ln w="508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4974336" y="2350008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Alaska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897880" y="2350008"/>
            <a:ext cx="987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03:00–03:05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949440" y="2350008"/>
            <a:ext cx="7132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2.60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726680" y="2350008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6.76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46320" y="2651760"/>
            <a:ext cx="39776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4974336" y="2651760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Rico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897880" y="2651760"/>
            <a:ext cx="987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09:55–10:00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949440" y="2651760"/>
            <a:ext cx="7132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3.02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726680" y="265176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9.12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846320" y="2953512"/>
            <a:ext cx="3977640" cy="301752"/>
          </a:xfrm>
          <a:prstGeom prst="rect">
            <a:avLst/>
          </a:prstGeom>
          <a:solidFill>
            <a:srgbClr val="F7F8FA"/>
          </a:solidFill>
          <a:ln w="508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/>
          <p:nvPr/>
        </p:nvSpPr>
        <p:spPr>
          <a:xfrm>
            <a:off x="4974336" y="2953512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Mexico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897880" y="2953512"/>
            <a:ext cx="987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01:00–01:05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949440" y="2953512"/>
            <a:ext cx="7132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726680" y="2953512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4.00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846320" y="3255264"/>
            <a:ext cx="39776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Text 58"/>
          <p:cNvSpPr/>
          <p:nvPr/>
        </p:nvSpPr>
        <p:spPr>
          <a:xfrm>
            <a:off x="4974336" y="3255264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Tennessee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897880" y="3255264"/>
            <a:ext cx="987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14:00–14:05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949440" y="3255264"/>
            <a:ext cx="7132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1.75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726680" y="3255264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3.06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846320" y="3557016"/>
            <a:ext cx="3977640" cy="301752"/>
          </a:xfrm>
          <a:prstGeom prst="rect">
            <a:avLst/>
          </a:prstGeom>
          <a:solidFill>
            <a:srgbClr val="F7F8FA"/>
          </a:solidFill>
          <a:ln w="508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Text 63"/>
          <p:cNvSpPr/>
          <p:nvPr/>
        </p:nvSpPr>
        <p:spPr>
          <a:xfrm>
            <a:off x="4974336" y="3557016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Oklahoma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897880" y="3557016"/>
            <a:ext cx="987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05:50–05:55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949440" y="3557016"/>
            <a:ext cx="7132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2.29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7726680" y="3557016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5.24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846320" y="3858768"/>
            <a:ext cx="39776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Text 68"/>
          <p:cNvSpPr/>
          <p:nvPr/>
        </p:nvSpPr>
        <p:spPr>
          <a:xfrm>
            <a:off x="4974336" y="3858768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Alaska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5897880" y="3858768"/>
            <a:ext cx="987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19:10–19:15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6949440" y="3858768"/>
            <a:ext cx="7132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2.20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7726680" y="3858768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4.84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rows = severity spikes that would trigger a due diligence review  ·  Sample output, 15 Dec 2025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C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·  ARE MY INVESTMENTS LINKED?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all markets are as independent as they appear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8321040" cy="16459"/>
          </a:xfrm>
          <a:prstGeom prst="rect">
            <a:avLst/>
          </a:prstGeom>
          <a:solidFill>
            <a:srgbClr val="E2E6EA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0" descr="/mnt/user-data/uploads/1773758121603_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115568"/>
            <a:ext cx="5349240" cy="3730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97880" y="11155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map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897880" y="1444752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is a market. The size of the dot shows how structurally connected it is — a larger dot means more markets are exposed through it. The darker the colour, the higher the individual risk score.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897880" y="2578608"/>
            <a:ext cx="2971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5897880" y="2578608"/>
            <a:ext cx="45720" cy="1078992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6071616" y="26517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Virgin Islands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71616" y="292608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individual risk score — but the largest dot in the Caribbean cluster. A single major event there would hit Puerto Rico and Dominican Republic at the same time.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897880" y="3767328"/>
            <a:ext cx="2971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5897880" y="3767328"/>
            <a:ext cx="45720" cy="1078992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6071616" y="38404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Nevada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71616" y="411480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score AND highly connected. Holding properties in California, Nevada and Utah simultaneously is not true diversification — they all sit on the same fault corridor.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connect markets within 500 km of each other  ·  Built with GraphFrames on Apache Spark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C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·  THE HIDDEN RISK IN YOUR PORTFOLIO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Connectivity matters as much as individual risk scores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8321040" cy="16459"/>
          </a:xfrm>
          <a:prstGeom prst="rect">
            <a:avLst/>
          </a:prstGeom>
          <a:solidFill>
            <a:srgbClr val="E2E6EA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analysis identifies which markets act as hubs — where a single event ripples out and affects everything connected to it. These hubs deserve extra attention even when their own risk score looks low.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11480" y="1719072"/>
            <a:ext cx="5166360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48640" y="171907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B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029968" y="1719072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B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score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035808" y="171907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B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931920" y="171907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B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048256"/>
            <a:ext cx="5166360" cy="329184"/>
          </a:xfrm>
          <a:prstGeom prst="rect">
            <a:avLst/>
          </a:prstGeom>
          <a:solidFill>
            <a:srgbClr val="FDF3E8"/>
          </a:solidFill>
          <a:ln w="508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11480" y="2048256"/>
            <a:ext cx="45720" cy="329184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48640" y="204825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Virgin Islands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029968" y="2048256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035808" y="2048256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931920" y="2048256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Caribbean cluster hub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2377440"/>
            <a:ext cx="5166360" cy="329184"/>
          </a:xfrm>
          <a:prstGeom prst="rect">
            <a:avLst/>
          </a:prstGeom>
          <a:solidFill>
            <a:srgbClr val="FDF3E8"/>
          </a:solidFill>
          <a:ln w="508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411480" y="2377440"/>
            <a:ext cx="45720" cy="329184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48640" y="237744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029968" y="2377440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2.56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035808" y="2377440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931920" y="237744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US corridor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1480" y="2706624"/>
            <a:ext cx="5166360" cy="329184"/>
          </a:xfrm>
          <a:prstGeom prst="rect">
            <a:avLst/>
          </a:prstGeom>
          <a:solidFill>
            <a:srgbClr val="FDF3E8"/>
          </a:solidFill>
          <a:ln w="508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411480" y="2706624"/>
            <a:ext cx="45720" cy="329184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548640" y="270662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Nevada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029968" y="2706624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2.09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035808" y="2706624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931920" y="2706624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+ high connectivity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11480" y="3035808"/>
            <a:ext cx="5166360" cy="329184"/>
          </a:xfrm>
          <a:prstGeom prst="rect">
            <a:avLst/>
          </a:prstGeom>
          <a:solidFill>
            <a:srgbClr val="F7F8FA"/>
          </a:solidFill>
          <a:ln w="508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548640" y="303580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Wyoming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029968" y="3035808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2.09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035808" y="3035808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931920" y="303580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through Nevada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11480" y="3364992"/>
            <a:ext cx="516636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548640" y="336499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029968" y="3364992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1.46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035808" y="336499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931920" y="336499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11480" y="3694176"/>
            <a:ext cx="5166360" cy="329184"/>
          </a:xfrm>
          <a:prstGeom prst="rect">
            <a:avLst/>
          </a:prstGeom>
          <a:solidFill>
            <a:srgbClr val="F7F8FA"/>
          </a:solidFill>
          <a:ln w="508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548640" y="369417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2029968" y="3694176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1.46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035808" y="3694176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931920" y="3694176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11480" y="4023360"/>
            <a:ext cx="516636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548640" y="40233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Tajikistan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2029968" y="4023360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1.46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3035808" y="4023360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931920" y="402336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11480" y="4370832"/>
            <a:ext cx="516636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566928" y="4370832"/>
            <a:ext cx="4864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B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risk corridor discovered:  CA  →  Nevada  →  Utah — no direct CA–Utah link, but a Nevada event affects both simultaneously.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897880" y="1719072"/>
            <a:ext cx="2971800" cy="12984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2" name="Shape 50"/>
          <p:cNvSpPr/>
          <p:nvPr/>
        </p:nvSpPr>
        <p:spPr>
          <a:xfrm>
            <a:off x="5897880" y="1719072"/>
            <a:ext cx="2971800" cy="45720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/>
          <p:nvPr/>
        </p:nvSpPr>
        <p:spPr>
          <a:xfrm>
            <a:off x="6016752" y="181051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87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2.71</a:t>
            </a:r>
            <a:endParaRPr lang="en-US" sz="2400" dirty="0"/>
          </a:p>
        </p:txBody>
      </p:sp>
      <p:sp>
        <p:nvSpPr>
          <p:cNvPr id="54" name="Text 52"/>
          <p:cNvSpPr/>
          <p:nvPr/>
        </p:nvSpPr>
        <p:spPr>
          <a:xfrm>
            <a:off x="6016752" y="217627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score — U.S. Virgin Islands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016752" y="2377440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 score of just 0.01 — but the highest hub score in the network. Low-risk on its own, but a Caribbean-wide event would trigger simultaneous claims across four connected markets.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897880" y="3136392"/>
            <a:ext cx="2971800" cy="12984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5897880" y="3136392"/>
            <a:ext cx="2971800" cy="45720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/>
          <p:nvPr/>
        </p:nvSpPr>
        <p:spPr>
          <a:xfrm>
            <a:off x="6016752" y="322783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87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Nevada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016752" y="359359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dangerous node in the network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016752" y="3794760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individual risk (0.20) and the highest connectivity in the western US. Owning assets in California and Utah alongside Nevada is not diversification.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11480" y="4949639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score = PageRank algorithm  ·  Higher score = more markets are exposed through this node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C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·  WHICH TIER DOES MY MARKET BELONG TO?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algorithm reveals three naturally distinct groups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8321040" cy="16459"/>
          </a:xfrm>
          <a:prstGeom prst="rect">
            <a:avLst/>
          </a:prstGeom>
          <a:solidFill>
            <a:srgbClr val="E2E6EA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0" descr="/mnt/user-data/uploads/1773758059849_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115568"/>
            <a:ext cx="5486400" cy="3730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0" y="11155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chart shows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035040" y="1444752"/>
            <a:ext cx="2834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is a market. Its horizontal position shows how often earthquakes occur there. Its vertical position shows the total destructive power. The machine learning algorithm grouped them into three tiers automatically — without us setting any thresholds.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035040" y="2761488"/>
            <a:ext cx="164592" cy="16459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6291072" y="2670048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Extreme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291072" y="2962656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Alaska: very powerful earthquakes. California: extremely frequent.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035040" y="3602736"/>
            <a:ext cx="164592" cy="164592"/>
          </a:xfrm>
          <a:prstGeom prst="ellipse">
            <a:avLst/>
          </a:prstGeom>
          <a:solidFill>
            <a:srgbClr val="E8943A"/>
          </a:solidFill>
          <a:ln w="12700">
            <a:solidFill>
              <a:srgbClr val="E894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6291072" y="3511296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High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291072" y="3803904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Nevada, Hawaii, Texas and others — elevated on both dimensions.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035040" y="4443984"/>
            <a:ext cx="164592" cy="16459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6291072" y="435254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Moderate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291072" y="464515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markets — fewer and less powerful events, but still worth monitoring.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validated with a confidence score of 0.95 — indicating the three tiers are clearly distinct, not arbitrary groupings.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C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·  WHAT MAKES EACH TIER DIFFERENT?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tiers — three distinct risk profiles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8321040" cy="16459"/>
          </a:xfrm>
          <a:prstGeom prst="rect">
            <a:avLst/>
          </a:prstGeom>
          <a:solidFill>
            <a:srgbClr val="E2E6EA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0" descr="/mnt/user-data/uploads/1773758102685_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115568"/>
            <a:ext cx="5577840" cy="3474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80760" y="111556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finding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080760" y="1444752"/>
            <a:ext cx="2788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(the 57-market group) has the highest average earthquake magnitude of all three tiers. These markets produce fewer earthquakes, but each one is more powerful on average.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080760" y="2450592"/>
            <a:ext cx="2788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6080760" y="2450592"/>
            <a:ext cx="45720" cy="786384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6245352" y="250545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California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245352" y="2761488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cover for business interruption and rapid claims. The constant stream of moderate events is the primary exposure.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080760" y="3346704"/>
            <a:ext cx="2788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6080760" y="3346704"/>
            <a:ext cx="45720" cy="786384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6245352" y="3401568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Alaska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245352" y="3657600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structural damage cover. Fewer events but each one can cause catastrophic damage. Specialist reinsurance recommended.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080760" y="4242816"/>
            <a:ext cx="2788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6080760" y="4242816"/>
            <a:ext cx="45720" cy="786384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6245352" y="429768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57 markets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245352" y="4553712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cover with magnitude-based review. Markets like Chile and Japan in this group still warrant careful individual assessment.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 discovered by KMeans machine learning — not preset by analysts  ·  Confidence score: 0.9491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C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ALL TOGETHER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use each layer of the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8321040" cy="16459"/>
          </a:xfrm>
          <a:prstGeom prst="rect">
            <a:avLst/>
          </a:prstGeom>
          <a:solidFill>
            <a:srgbClr val="E2E6EA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steps are not separate tools — they map directly onto the stages of any real estate investment process.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8321040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B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901952" y="1508760"/>
            <a:ext cx="2980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B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you are asking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956048" y="15087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B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tool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0" y="15087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B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1837944"/>
            <a:ext cx="8321040" cy="621792"/>
          </a:xfrm>
          <a:prstGeom prst="rect">
            <a:avLst/>
          </a:prstGeom>
          <a:solidFill>
            <a:srgbClr val="FDF3E8"/>
          </a:solidFill>
          <a:ln w="508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11480" y="1837944"/>
            <a:ext cx="45720" cy="621792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48640" y="1837944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screening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901952" y="1837944"/>
            <a:ext cx="29809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region broadly safe to invest in?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56048" y="1837944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·  Batch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1837944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— go, caution, or avoid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2459736"/>
            <a:ext cx="8321040" cy="621792"/>
          </a:xfrm>
          <a:prstGeom prst="rect">
            <a:avLst/>
          </a:prstGeom>
          <a:solidFill>
            <a:srgbClr val="F7F8FA"/>
          </a:solidFill>
          <a:ln w="508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48640" y="2459736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due diligence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901952" y="2459736"/>
            <a:ext cx="29809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anything changed while we were evaluating the deal?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56048" y="2459736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·  Streaming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2459736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spike alert — pause or proceed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3081528"/>
            <a:ext cx="8321040" cy="621792"/>
          </a:xfrm>
          <a:prstGeom prst="rect">
            <a:avLst/>
          </a:prstGeom>
          <a:solidFill>
            <a:srgbClr val="FDF3E8"/>
          </a:solidFill>
          <a:ln w="508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11480" y="3081528"/>
            <a:ext cx="45720" cy="621792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48640" y="3081528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review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901952" y="3081528"/>
            <a:ext cx="29809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our existing assets correlated to this new one?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56048" y="308152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·  Graph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0" y="308152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check — diversified or not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11480" y="3703320"/>
            <a:ext cx="8321040" cy="621792"/>
          </a:xfrm>
          <a:prstGeom prst="rect">
            <a:avLst/>
          </a:prstGeom>
          <a:solidFill>
            <a:srgbClr val="F7F8FA"/>
          </a:solidFill>
          <a:ln w="508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548640" y="3703320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budgeting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901952" y="3703320"/>
            <a:ext cx="29809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level of cover do we need and what will it cost?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56048" y="370332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·  ML tiers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0" y="370332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assignment — Tier 1, 2 or 3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11480" y="4407408"/>
            <a:ext cx="8321040" cy="4937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566928" y="4407408"/>
            <a:ext cx="658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243584" y="4407408"/>
            <a:ext cx="7306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EB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Seismic data can support better real estate decisions at every stage of the investment lifecycle — from first screening through to ongoing portfolio monitoring.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C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CAVEATS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analysis tells us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8321040" cy="16459"/>
          </a:xfrm>
          <a:prstGeom prst="rect">
            <a:avLst/>
          </a:prstGeom>
          <a:solidFill>
            <a:srgbClr val="E2E6EA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to keep in mind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572768"/>
            <a:ext cx="40233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45720" cy="67665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85216" y="1645920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one day's data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5216" y="1901952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covers a single collection on 16 March 2026. A 12-month rolling dataset would produce more reliable risk scores.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359152"/>
            <a:ext cx="40233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11480" y="2359152"/>
            <a:ext cx="45720" cy="67665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85216" y="2432304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≠ fault connectivity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" y="2688336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link markets that are within 500 km of each other. The actual fault line geometry may be different — two markets further apart could still be geologically connected.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145536"/>
            <a:ext cx="40233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411480" y="3145536"/>
            <a:ext cx="45720" cy="67665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85216" y="3218688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weighting is a starting point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5216" y="3474720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weighted earthquake power at 60% and frequency at 40%. These are informed assumptions. Actual insurance data could refine these numbers.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931920"/>
            <a:ext cx="40233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11480" y="3931920"/>
            <a:ext cx="45720" cy="67665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85216" y="4005072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markets fall in one group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5216" y="4261104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of 59 markets land in Tier 3. As more data is collected, finer-grained tiers could emerge.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11704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next steps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1572768"/>
            <a:ext cx="40690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828032" y="162763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7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248656" y="164592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property pricing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48656" y="19202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risk scores to property valuations to produce a risk-adjusted return figure for each market.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2359152"/>
            <a:ext cx="40690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828032" y="241401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7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48656" y="2432304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investment alerts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48656" y="270662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live monitoring layer to an automated notification system so portfolio managers receive real-time alerts.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145536"/>
            <a:ext cx="40690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4828032" y="3200400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7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48656" y="321868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real fault line maps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48656" y="34930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500 km proximity rule with actual geological fault line data from USGS for more accurate correlation detection.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3931920"/>
            <a:ext cx="40690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4828032" y="398678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7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248656" y="400507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12-month rolling view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48656" y="42793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continuous data to detect trends — is a market getting riskier over time, or quieter?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C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75488" y="786384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Smarter data leads to smarter decisions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75488" y="1335024"/>
            <a:ext cx="8321040" cy="16459"/>
          </a:xfrm>
          <a:prstGeom prst="rect">
            <a:avLst/>
          </a:prstGeom>
          <a:solidFill>
            <a:srgbClr val="E2E6EA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75488" y="1481328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investment has always carried uncertainty. What our analysis demonstrates is that a significant portion of that uncertainty — specifically the seismic dimension — is now measurable, monitorable and actionable. Investors who treat earthquake risk as a static background condition are leaving a material blind spot in their decision-making.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5488" y="2633472"/>
            <a:ext cx="257860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475488" y="2633472"/>
            <a:ext cx="45720" cy="1554480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40080" y="276148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is not uniform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090672"/>
            <a:ext cx="23225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Alaska and California carry risk scores four times higher than the next market. Properties within the same broad region can differ substantially — blanket zone-based pricing does not reflect that.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2633472"/>
            <a:ext cx="257860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291840" y="2633472"/>
            <a:ext cx="45720" cy="1554480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456432" y="276148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is not static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56432" y="3090672"/>
            <a:ext cx="23225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Seismic activity changes week to week. Decisions made on annual risk maps can be undermined by activity that occurred after the map was drawn. Live monitoring closes that gap.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08192" y="2633472"/>
            <a:ext cx="257860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6108192" y="2633472"/>
            <a:ext cx="45720" cy="1554480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272784" y="276148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is not isolated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72784" y="3090672"/>
            <a:ext cx="23225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diversification across neighbouring markets does not guarantee uncorrelated exposure. Graph analysis reveals which combinations of assets are seismically linked through shared fault systems.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2E6EA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75488" y="4919472"/>
            <a:ext cx="82296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97A6"/>
                </a:solidFill>
              </a:rPr>
              <a:t>Apache Spark Group Project  · 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75488" y="128016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200400" y="2029968"/>
            <a:ext cx="2743200" cy="20117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75488" y="21762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happy to answer any questions.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0" y="2944368"/>
            <a:ext cx="45720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286000" y="303580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329184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USGS Earthquake Hazards Program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usgs.gov/programs/earthquake-hazards/earthquakes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2E6EA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75488" y="4919472"/>
            <a:ext cx="82296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13" name="Text 19">
            <a:extLst>
              <a:ext uri="{FF2B5EF4-FFF2-40B4-BE49-F238E27FC236}">
                <a16:creationId xmlns:a16="http://schemas.microsoft.com/office/drawing/2014/main" id="{05B7B574-E0C9-E66C-6001-DE6D69714C7E}"/>
              </a:ext>
            </a:extLst>
          </p:cNvPr>
          <p:cNvSpPr/>
          <p:nvPr/>
        </p:nvSpPr>
        <p:spPr>
          <a:xfrm>
            <a:off x="104257" y="4919472"/>
            <a:ext cx="82296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97A6"/>
                </a:solidFill>
              </a:rPr>
              <a:t>Boumediene Rayane Mazari – Felipe De Leon Castro – Marco De Palma – Sacha Huberty – Shreya Jha – Smaragda Apostolou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2144</Words>
  <Application>Microsoft Office PowerPoint</Application>
  <PresentationFormat>On-screen Show (16:9)</PresentationFormat>
  <Paragraphs>290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Seismic Risk Assessment — Real Estate Portfolio Decision-Making</dc:title>
  <dc:subject>PptxGenJS Presentation</dc:subject>
  <dc:creator>PptxGenJS</dc:creator>
  <cp:lastModifiedBy>Smaragda Apostolou</cp:lastModifiedBy>
  <cp:revision>4</cp:revision>
  <dcterms:created xsi:type="dcterms:W3CDTF">2026-03-17T14:49:00Z</dcterms:created>
  <dcterms:modified xsi:type="dcterms:W3CDTF">2026-03-17T15:44:41Z</dcterms:modified>
</cp:coreProperties>
</file>